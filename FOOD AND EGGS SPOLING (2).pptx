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5.10-->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6" r:id="rId2"/>
    <p:sldId id="274" r:id="rId3"/>
    <p:sldId id="257" r:id="rId4"/>
    <p:sldId id="258" r:id="rId5"/>
    <p:sldId id="259" r:id="rId6"/>
    <p:sldId id="260" r:id="rId7"/>
    <p:sldId id="261" r:id="rId8"/>
    <p:sldId id="273" r:id="rId9"/>
    <p:sldId id="265" r:id="rId10"/>
    <p:sldId id="267" r:id="rId11"/>
    <p:sldId id="268" r:id="rId12"/>
    <p:sldId id="262" r:id="rId13"/>
    <p:sldId id="263" r:id="rId14"/>
    <p:sldId id="264" r:id="rId15"/>
    <p:sldId id="269" r:id="rId16"/>
    <p:sldId id="270" r:id="rId17"/>
    <p:sldId id="271" r:id="rId18"/>
    <p:sldId id="272" r:id="rId19"/>
  </p:sldIdLst>
  <p:sldSz cx="9144000" cy="6858000" type="screen4x3"/>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506" y="-156"/>
      </p:cViewPr>
      <p:guideLst>
        <p:guide orient="horz" pos="2160"/>
        <p:guide pos="2880"/>
      </p:guideLst>
    </p:cSldViewPr>
  </p:slideViewPr>
  <p:notesTextViewPr>
    <p:cViewPr>
      <p:scale>
        <a:sx n="1" d="1"/>
        <a:sy n="1" d="1"/>
      </p:scale>
      <p:origin x="0" y="0"/>
    </p:cViewPr>
  </p:notesTextViewPr>
  <p:notesViewPr>
    <p:cSldViewPr>
      <p:cViewPr>
        <p:scale>
          <a:sx n="1" d="100"/>
          <a:sy n="1" d="100"/>
        </p:scale>
        <p:origin x="0" y="0"/>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tags" Target="tags/tag1.xml" /><Relationship Id="rId21" Type="http://schemas.openxmlformats.org/officeDocument/2006/relationships/presProps" Target="presProps.xml" /><Relationship Id="rId22" Type="http://schemas.openxmlformats.org/officeDocument/2006/relationships/viewProps" Target="viewProps.xml" /><Relationship Id="rId23" Type="http://schemas.openxmlformats.org/officeDocument/2006/relationships/theme" Target="theme/theme1.xml" /><Relationship Id="rId24" Type="http://schemas.openxmlformats.org/officeDocument/2006/relationships/tableStyles" Target="tableStyles.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094B9FC-9411-45E8-BE80-0CABD0A9C181}" type="datetimeFigureOut">
              <a:rPr lang="en-IN" smtClean="0"/>
              <a:t>20-02-2024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2320559781"/>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094B9FC-9411-45E8-BE80-0CABD0A9C181}" type="datetimeFigureOut">
              <a:rPr lang="en-IN" smtClean="0"/>
              <a:t>20-02-2024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1196078866"/>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94B9FC-9411-45E8-BE80-0CABD0A9C181}" type="datetimeFigureOut">
              <a:rPr lang="en-IN" smtClean="0"/>
              <a:t>20-02-2024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503178872"/>
      </p:ext>
    </p:extLst>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094B9FC-9411-45E8-BE80-0CABD0A9C181}" type="datetimeFigureOut">
              <a:rPr lang="en-IN" smtClean="0"/>
              <a:t>20-02-2024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480834663"/>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094B9FC-9411-45E8-BE80-0CABD0A9C181}" type="datetimeFigureOut">
              <a:rPr lang="en-IN" smtClean="0"/>
              <a:t>20-02-2024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6757421"/>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094B9FC-9411-45E8-BE80-0CABD0A9C181}" type="datetimeFigureOut">
              <a:rPr lang="en-IN" smtClean="0"/>
              <a:t>20-02-2024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3509557995"/>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F094B9FC-9411-45E8-BE80-0CABD0A9C181}" type="datetimeFigureOut">
              <a:rPr lang="en-IN" smtClean="0"/>
              <a:t>20-02-2024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401934972"/>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94B9FC-9411-45E8-BE80-0CABD0A9C181}" type="datetimeFigureOut">
              <a:rPr lang="en-IN" smtClean="0"/>
              <a:t>20-02-2024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317686016"/>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94B9FC-9411-45E8-BE80-0CABD0A9C181}" type="datetimeFigureOut">
              <a:rPr lang="en-IN" smtClean="0"/>
              <a:t>20-02-2024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2387172909"/>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094B9FC-9411-45E8-BE80-0CABD0A9C181}" type="datetimeFigureOut">
              <a:rPr lang="en-IN" smtClean="0"/>
              <a:t>20-02-2024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2120402240"/>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094B9FC-9411-45E8-BE80-0CABD0A9C181}" type="datetimeFigureOut">
              <a:rPr lang="en-IN" smtClean="0"/>
              <a:t>20-02-2024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8ACA2C-9804-41DF-A7D4-3A85ADA89946}" type="slidenum">
              <a:rPr lang="en-IN" smtClean="0"/>
              <a:t>‹#›</a:t>
            </a:fld>
            <a:endParaRPr lang="en-IN"/>
          </a:p>
        </p:txBody>
      </p:sp>
    </p:spTree>
    <p:extLst>
      <p:ext uri="{BB962C8B-B14F-4D97-AF65-F5344CB8AC3E}">
        <p14:creationId val="2602754039"/>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94B9FC-9411-45E8-BE80-0CABD0A9C181}" type="datetimeFigureOut">
              <a:rPr lang="en-IN" smtClean="0"/>
              <a:t>20-02-2024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8ACA2C-9804-41DF-A7D4-3A85ADA89946}" type="slidenum">
              <a:rPr lang="en-IN" smtClean="0"/>
              <a:t>‹#›</a:t>
            </a:fld>
            <a:endParaRPr lang="en-IN"/>
          </a:p>
        </p:txBody>
      </p:sp>
    </p:spTree>
    <p:extLst>
      <p:ext uri="{BB962C8B-B14F-4D97-AF65-F5344CB8AC3E}">
        <p14:creationId val="1497006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e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e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033" name="Title 1"/>
          <p:cNvSpPr>
            <a:spLocks noGrp="1"/>
          </p:cNvSpPr>
          <p:nvPr>
            <p:ph type="ctrTitle"/>
          </p:nvPr>
        </p:nvSpPr>
        <p:spPr>
          <a:xfrm>
            <a:off x="685800" y="116633"/>
            <a:ext cx="7772400" cy="2880320"/>
          </a:xfrm>
          <a:noFill/>
          <a:ln w="0">
            <a:noFill/>
          </a:ln>
        </p:spPr>
        <p:txBody>
          <a:bodyPr wrap="square" lIns="91440" tIns="45720" rIns="91440" bIns="45720" anchor="ctr">
            <a:normAutofit/>
          </a:bodyPr>
          <a:lstStyle/>
          <a:p>
            <a:pPr marL="0" marR="0" indent="0" algn="ctr" fontAlgn="auto">
              <a:lnSpc>
                <a:spcPct val="100000"/>
              </a:lnSpc>
              <a:spcBef>
                <a:spcPct val="0"/>
              </a:spcBef>
              <a:spcAft>
                <a:spcPct val="0"/>
              </a:spcAft>
            </a:pPr>
            <a:r>
              <a:rPr sz="4400" spc="0" baseline="0">
                <a:solidFill>
                  <a:srgbClr val="000000"/>
                </a:solidFill>
                <a:latin typeface="Calibri"/>
              </a:rPr>
              <a:t>FOOD AND EGGS SPOILING DETECTION</a:t>
            </a: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a:p>
            <a:pPr marL="0" marR="0" indent="0" algn="ctr" fontAlgn="auto">
              <a:lnSpc>
                <a:spcPct val="100000"/>
              </a:lnSpc>
              <a:spcBef>
                <a:spcPct val="0"/>
              </a:spcBef>
              <a:spcAft>
                <a:spcPct val="0"/>
              </a:spcAft>
            </a:pPr>
          </a:p>
        </p:txBody>
      </p:sp>
      <p:pic>
        <p:nvPicPr>
          <p:cNvPr id="1034" name="Picture 2" title=""/>
          <p:cNvPicPr/>
          <p:nvPr/>
        </p:nvPicPr>
        <p:blipFill>
          <a:blip r:embed="rId2"/>
          <a:stretch>
            <a:fillRect/>
          </a:stretch>
        </p:blipFill>
        <p:spPr>
          <a:xfrm>
            <a:off x="827584" y="2636912"/>
            <a:ext cx="7416824" cy="1944216"/>
          </a:xfrm>
          <a:prstGeom prst="rect">
            <a:avLst/>
          </a:prstGeom>
        </p:spPr>
      </p:pic>
    </p:spTree>
    <p:extLst>
      <p:ext uri="{BB962C8B-B14F-4D97-AF65-F5344CB8AC3E}">
        <p14:creationId val="3519948779"/>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smtClean="0"/>
              <a:t>AGENDA</a:t>
            </a:r>
            <a:endParaRPr lang="en-IN"/>
          </a:p>
        </p:txBody>
      </p:sp>
      <p:sp>
        <p:nvSpPr>
          <p:cNvPr id="3" name="Content Placeholder 2"/>
          <p:cNvSpPr>
            <a:spLocks noGrp="1"/>
          </p:cNvSpPr>
          <p:nvPr>
            <p:ph idx="1"/>
          </p:nvPr>
        </p:nvSpPr>
        <p:spPr/>
        <p:txBody>
          <a:bodyPr>
            <a:normAutofit lnSpcReduction="10000"/>
          </a:bodyPr>
          <a:lstStyle/>
          <a:p>
            <a:r>
              <a:rPr lang="en-IN" smtClean="0"/>
              <a:t>INTRODUCTION</a:t>
            </a:r>
          </a:p>
          <a:p>
            <a:r>
              <a:rPr lang="en-IN" smtClean="0"/>
              <a:t>COMPONENTS</a:t>
            </a:r>
          </a:p>
          <a:p>
            <a:r>
              <a:rPr lang="en-IN"/>
              <a:t>CIRCUIT </a:t>
            </a:r>
            <a:r>
              <a:rPr lang="en-IN" smtClean="0"/>
              <a:t>DIAGRAM</a:t>
            </a:r>
          </a:p>
          <a:p>
            <a:r>
              <a:rPr lang="en-IN"/>
              <a:t>SYSTEM </a:t>
            </a:r>
            <a:r>
              <a:rPr lang="en-IN" smtClean="0"/>
              <a:t>WORKFLOW</a:t>
            </a:r>
          </a:p>
          <a:p>
            <a:r>
              <a:rPr lang="en-IN" smtClean="0"/>
              <a:t>PROGRAM</a:t>
            </a:r>
          </a:p>
          <a:p>
            <a:r>
              <a:rPr lang="en-IN"/>
              <a:t>PROBLEM ARISES DURING </a:t>
            </a:r>
            <a:r>
              <a:rPr lang="en-IN" smtClean="0"/>
              <a:t>DEPLOYMENT</a:t>
            </a:r>
          </a:p>
          <a:p>
            <a:r>
              <a:rPr lang="en-IN" smtClean="0"/>
              <a:t>ADVANTAGES AND DISADVANTAGES</a:t>
            </a:r>
          </a:p>
          <a:p>
            <a:r>
              <a:rPr lang="en-IN" smtClean="0"/>
              <a:t>FUTURE ENHANCEMENTS</a:t>
            </a:r>
          </a:p>
          <a:p>
            <a:endParaRPr lang="en-IN" smtClean="0"/>
          </a:p>
          <a:p>
            <a:endParaRPr lang="en-IN" smtClean="0"/>
          </a:p>
          <a:p>
            <a:endParaRPr lang="en-IN" smtClean="0"/>
          </a:p>
          <a:p>
            <a:endParaRPr lang="en-IN"/>
          </a:p>
        </p:txBody>
      </p:sp>
    </p:spTree>
    <p:extLst>
      <p:ext uri="{BB962C8B-B14F-4D97-AF65-F5344CB8AC3E}">
        <p14:creationId val="1107880650"/>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INTRODUCTION</a:t>
            </a:r>
            <a:endParaRPr lang="en-IN" b="1"/>
          </a:p>
        </p:txBody>
      </p:sp>
      <p:sp>
        <p:nvSpPr>
          <p:cNvPr id="3" name="Content Placeholder 2"/>
          <p:cNvSpPr>
            <a:spLocks noGrp="1"/>
          </p:cNvSpPr>
          <p:nvPr>
            <p:ph idx="1"/>
          </p:nvPr>
        </p:nvSpPr>
        <p:spPr>
          <a:xfrm>
            <a:off x="457200" y="1600200"/>
            <a:ext cx="8229600" cy="4853136"/>
          </a:xfrm>
        </p:spPr>
        <p:txBody>
          <a:bodyPr>
            <a:normAutofit fontScale="92500" lnSpcReduction="10000"/>
          </a:bodyPr>
          <a:lstStyle/>
          <a:p>
            <a:pPr marL="0" indent="0" algn="just">
              <a:buNone/>
            </a:pPr>
            <a:r>
              <a:rPr lang="en-US" smtClean="0"/>
              <a:t> 	The </a:t>
            </a:r>
            <a:r>
              <a:rPr lang="en-US"/>
              <a:t>spoilage detection system is a cutting-edge technology designed to enhance food safety and quality control by detecting spoilage in food items, particularly eggs. It utilizes a combination of sensors, data processing algorithms, and user interfaces to monitor spoilage indicators such as gas emissions and weight deviations in real-time. By providing early alerts and feedback to users, the system helps mitigate the risk of consuming contaminated or spoiled food, reducing food waste and promoting sustainable consumption practices.</a:t>
            </a:r>
            <a:endParaRPr lang="en-IN"/>
          </a:p>
        </p:txBody>
      </p:sp>
    </p:spTree>
    <p:extLst>
      <p:ext uri="{BB962C8B-B14F-4D97-AF65-F5344CB8AC3E}">
        <p14:creationId val="650137159"/>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COMPONENTS</a:t>
            </a:r>
            <a:endParaRPr lang="en-IN" b="1"/>
          </a:p>
        </p:txBody>
      </p:sp>
      <p:sp>
        <p:nvSpPr>
          <p:cNvPr id="3" name="Content Placeholder 2"/>
          <p:cNvSpPr>
            <a:spLocks noGrp="1"/>
          </p:cNvSpPr>
          <p:nvPr>
            <p:ph idx="1"/>
          </p:nvPr>
        </p:nvSpPr>
        <p:spPr/>
        <p:txBody>
          <a:bodyPr/>
          <a:lstStyle/>
          <a:p>
            <a:r>
              <a:rPr lang="en-IN" smtClean="0"/>
              <a:t>Gas Sensor</a:t>
            </a:r>
          </a:p>
          <a:p>
            <a:r>
              <a:rPr lang="en-IN" smtClean="0"/>
              <a:t>Load Cell</a:t>
            </a:r>
          </a:p>
          <a:p>
            <a:r>
              <a:rPr lang="en-IN" smtClean="0"/>
              <a:t>Hx711</a:t>
            </a:r>
          </a:p>
          <a:p>
            <a:r>
              <a:rPr lang="en-IN" smtClean="0"/>
              <a:t>Buzzer and light</a:t>
            </a:r>
          </a:p>
          <a:p>
            <a:r>
              <a:rPr lang="en-IN" err="1" smtClean="0"/>
              <a:t>Arduino Uno</a:t>
            </a:r>
          </a:p>
          <a:p>
            <a:r>
              <a:rPr lang="en-IN" smtClean="0"/>
              <a:t>LCD Display</a:t>
            </a:r>
          </a:p>
          <a:p>
            <a:r>
              <a:rPr lang="en-IN" smtClean="0"/>
              <a:t>Breadboard with Jumper Wires</a:t>
            </a:r>
            <a:endParaRPr lang="en-IN"/>
          </a:p>
        </p:txBody>
      </p:sp>
    </p:spTree>
    <p:extLst>
      <p:ext uri="{BB962C8B-B14F-4D97-AF65-F5344CB8AC3E}">
        <p14:creationId val="3432303075"/>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CIRCUIT DIAGRAM</a:t>
            </a:r>
            <a:endParaRPr lang="en-IN" b="1"/>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6090" y="1600200"/>
            <a:ext cx="5751819" cy="4525963"/>
          </a:xfrm>
        </p:spPr>
      </p:pic>
    </p:spTree>
    <p:extLst>
      <p:ext uri="{BB962C8B-B14F-4D97-AF65-F5344CB8AC3E}">
        <p14:creationId val="1231214809"/>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SYSTEM WORKFLOW</a:t>
            </a:r>
            <a:endParaRPr lang="en-IN" b="1"/>
          </a:p>
        </p:txBody>
      </p:sp>
      <p:sp>
        <p:nvSpPr>
          <p:cNvPr id="3" name="Content Placeholder 2"/>
          <p:cNvSpPr>
            <a:spLocks noGrp="1"/>
          </p:cNvSpPr>
          <p:nvPr>
            <p:ph idx="1"/>
          </p:nvPr>
        </p:nvSpPr>
        <p:spPr/>
        <p:txBody>
          <a:bodyPr>
            <a:normAutofit/>
          </a:bodyPr>
          <a:lstStyle/>
          <a:p>
            <a:r>
              <a:rPr lang="en-IN" b="1"/>
              <a:t>Data Acquisition:</a:t>
            </a:r>
            <a:r>
              <a:rPr lang="en-IN"/>
              <a:t> The gas sensor, load cell, and HX711 continuously collect data on spoilage gases and egg weight.</a:t>
            </a:r>
          </a:p>
          <a:p>
            <a:r>
              <a:rPr lang="en-IN" b="1" smtClean="0"/>
              <a:t>Data </a:t>
            </a:r>
            <a:r>
              <a:rPr lang="en-IN" b="1"/>
              <a:t>Processing:</a:t>
            </a:r>
            <a:r>
              <a:rPr lang="en-IN"/>
              <a:t> The Arduino Uno processes the sensor data using programmed algorithms to analyze spoilage indicators, such as gas concentrations and weight deviations</a:t>
            </a:r>
            <a:r>
              <a:rPr lang="en-IN" smtClean="0"/>
              <a:t>.</a:t>
            </a:r>
          </a:p>
          <a:p>
            <a:pPr marL="0" indent="0">
              <a:buNone/>
            </a:pPr>
            <a:endParaRPr lang="en-IN"/>
          </a:p>
        </p:txBody>
      </p:sp>
    </p:spTree>
    <p:extLst>
      <p:ext uri="{BB962C8B-B14F-4D97-AF65-F5344CB8AC3E}">
        <p14:creationId val="1044089758"/>
      </p:ext>
    </p:ext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IN" b="1" smtClean="0"/>
              <a:t>Spoilage Detection</a:t>
            </a:r>
            <a:r>
              <a:rPr lang="en-IN" smtClean="0"/>
              <a:t>: Based on the analysis of sensor data, the Arduino Uno determines the freshness status of food items and generates feedback signals to alert users to potential spoilage.</a:t>
            </a:r>
          </a:p>
          <a:p>
            <a:r>
              <a:rPr lang="en-IN" b="1" smtClean="0"/>
              <a:t>Feedback Generation</a:t>
            </a:r>
            <a:r>
              <a:rPr lang="en-IN" smtClean="0"/>
              <a:t>: The Arduino Uno activates the buzzer and light to provide audible and visual alerts, while the LCD display updates users on the freshness status of food items in real-time.</a:t>
            </a:r>
          </a:p>
          <a:p>
            <a:endParaRPr lang="en-IN"/>
          </a:p>
        </p:txBody>
      </p:sp>
    </p:spTree>
    <p:extLst>
      <p:ext uri="{BB962C8B-B14F-4D97-AF65-F5344CB8AC3E}">
        <p14:creationId val="782225985"/>
      </p:ext>
    </p:extLst>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PROJECT IMAGE</a:t>
            </a:r>
            <a:endParaRPr lang="en-IN" b="1"/>
          </a:p>
        </p:txBody>
      </p:sp>
      <p:pic>
        <p:nvPicPr>
          <p:cNvPr id="102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511831" y="1842756"/>
            <a:ext cx="4038600" cy="3947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Content Placeholder 20"/>
          <p:cNvSpPr>
            <a:spLocks noGrp="1"/>
          </p:cNvSpPr>
          <p:nvPr>
            <p:ph sz="half" idx="2"/>
          </p:nvPr>
        </p:nvSpPr>
        <p:spPr>
          <a:xfrm>
            <a:off x="4535996" y="1592796"/>
            <a:ext cx="4038600" cy="4932548"/>
          </a:xfrm>
        </p:spPr>
        <p:txBody>
          <a:bodyPr>
            <a:normAutofit/>
          </a:bodyPr>
          <a:lstStyle/>
          <a:p>
            <a:pPr marL="0" indent="0">
              <a:buNone/>
            </a:pPr>
            <a:r>
              <a:rPr lang="en-IN" smtClean="0"/>
              <a:t>     BUZZER           </a:t>
            </a:r>
          </a:p>
          <a:p>
            <a:pPr marL="0" indent="0">
              <a:buNone/>
            </a:pPr>
            <a:r>
              <a:rPr lang="en-IN"/>
              <a:t> </a:t>
            </a:r>
            <a:r>
              <a:rPr lang="en-IN" smtClean="0"/>
              <a:t>      LED</a:t>
            </a:r>
          </a:p>
          <a:p>
            <a:pPr marL="0" indent="0">
              <a:buNone/>
            </a:pPr>
            <a:r>
              <a:rPr lang="en-IN" smtClean="0"/>
              <a:t>       ARDUINO UNO</a:t>
            </a:r>
            <a:endParaRPr lang="en-IN"/>
          </a:p>
          <a:p>
            <a:pPr marL="0" indent="0">
              <a:buNone/>
            </a:pPr>
            <a:r>
              <a:rPr lang="en-IN" smtClean="0"/>
              <a:t>       BREADBOARD</a:t>
            </a:r>
          </a:p>
          <a:p>
            <a:pPr marL="0" indent="0">
              <a:buNone/>
            </a:pPr>
            <a:r>
              <a:rPr lang="en-IN" smtClean="0"/>
              <a:t>       JUMPER WIRES</a:t>
            </a:r>
            <a:endParaRPr lang="en-IN"/>
          </a:p>
          <a:p>
            <a:pPr marL="0" indent="0">
              <a:buNone/>
            </a:pPr>
            <a:r>
              <a:rPr lang="en-IN" smtClean="0"/>
              <a:t>       GAS SENSOR</a:t>
            </a:r>
          </a:p>
          <a:p>
            <a:pPr marL="0" indent="0">
              <a:buNone/>
            </a:pPr>
            <a:r>
              <a:rPr lang="en-IN" smtClean="0"/>
              <a:t>       LCD DISPLAY</a:t>
            </a:r>
          </a:p>
          <a:p>
            <a:pPr marL="0" indent="0">
              <a:buNone/>
            </a:pPr>
            <a:r>
              <a:rPr lang="en-IN" smtClean="0"/>
              <a:t>       HX711</a:t>
            </a:r>
          </a:p>
          <a:p>
            <a:pPr marL="0" indent="0">
              <a:buNone/>
            </a:pPr>
            <a:r>
              <a:rPr lang="en-IN" smtClean="0"/>
              <a:t>       LOADCELL</a:t>
            </a:r>
            <a:endParaRPr lang="en-IN"/>
          </a:p>
        </p:txBody>
      </p:sp>
      <p:cxnSp>
        <p:nvCxnSpPr>
          <p:cNvPr id="15" name="Straight Arrow Connector 14"/>
          <p:cNvCxnSpPr/>
          <p:nvPr/>
        </p:nvCxnSpPr>
        <p:spPr>
          <a:xfrm>
            <a:off x="3779912" y="3429000"/>
            <a:ext cx="136815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Elbow Connector 25"/>
          <p:cNvCxnSpPr/>
          <p:nvPr/>
        </p:nvCxnSpPr>
        <p:spPr>
          <a:xfrm>
            <a:off x="3764834" y="1988840"/>
            <a:ext cx="1368152" cy="36004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843808" y="2780928"/>
            <a:ext cx="2304256"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4" name="Straight Arrow Connector 1023"/>
          <p:cNvCxnSpPr/>
          <p:nvPr/>
        </p:nvCxnSpPr>
        <p:spPr>
          <a:xfrm>
            <a:off x="3059832" y="4365104"/>
            <a:ext cx="2073154"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7" name="Straight Arrow Connector 1026"/>
          <p:cNvCxnSpPr/>
          <p:nvPr/>
        </p:nvCxnSpPr>
        <p:spPr>
          <a:xfrm flipV="1">
            <a:off x="3779912" y="1916832"/>
            <a:ext cx="1224136"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9" name="Straight Arrow Connector 1028"/>
          <p:cNvCxnSpPr/>
          <p:nvPr/>
        </p:nvCxnSpPr>
        <p:spPr>
          <a:xfrm>
            <a:off x="3743908" y="3861048"/>
            <a:ext cx="1389078"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2" name="Straight Arrow Connector 1031"/>
          <p:cNvCxnSpPr/>
          <p:nvPr/>
        </p:nvCxnSpPr>
        <p:spPr>
          <a:xfrm>
            <a:off x="3764834" y="4869160"/>
            <a:ext cx="1383230"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0" name="Elbow Connector 1039"/>
          <p:cNvCxnSpPr/>
          <p:nvPr/>
        </p:nvCxnSpPr>
        <p:spPr>
          <a:xfrm>
            <a:off x="668490" y="2234518"/>
            <a:ext cx="4464496" cy="325306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6" name="Straight Arrow Connector 1045"/>
          <p:cNvCxnSpPr/>
          <p:nvPr/>
        </p:nvCxnSpPr>
        <p:spPr>
          <a:xfrm>
            <a:off x="1634750" y="5585001"/>
            <a:ext cx="3498236" cy="3642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val="2294706685"/>
      </p:ext>
    </p:extLst>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PROGRAM</a:t>
            </a:r>
            <a:endParaRPr lang="en-IN" b="1"/>
          </a:p>
        </p:txBody>
      </p:sp>
      <p:sp>
        <p:nvSpPr>
          <p:cNvPr id="3" name="Content Placeholder 2"/>
          <p:cNvSpPr>
            <a:spLocks noGrp="1"/>
          </p:cNvSpPr>
          <p:nvPr>
            <p:ph idx="1"/>
          </p:nvPr>
        </p:nvSpPr>
        <p:spPr>
          <a:xfrm>
            <a:off x="457200" y="1412776"/>
            <a:ext cx="8229600" cy="4713387"/>
          </a:xfrm>
        </p:spPr>
        <p:txBody>
          <a:bodyPr>
            <a:normAutofit fontScale="70000" lnSpcReduction="20000"/>
          </a:bodyPr>
          <a:lstStyle/>
          <a:p>
            <a:pPr marL="0" indent="0">
              <a:buNone/>
            </a:pPr>
            <a:r>
              <a:rPr lang="en-IN"/>
              <a:t>#include &lt;Wire.h&gt;</a:t>
            </a:r>
          </a:p>
          <a:p>
            <a:pPr marL="0" indent="0">
              <a:buNone/>
            </a:pPr>
            <a:r>
              <a:rPr lang="en-IN"/>
              <a:t>#include &lt;LiquidCrystal_I2C.h&gt;</a:t>
            </a:r>
          </a:p>
          <a:p>
            <a:pPr marL="0" indent="0">
              <a:buNone/>
            </a:pPr>
            <a:r>
              <a:rPr lang="en-IN"/>
              <a:t>#define MQ_PIN A0</a:t>
            </a:r>
          </a:p>
          <a:p>
            <a:pPr marL="0" indent="0">
              <a:buNone/>
            </a:pPr>
            <a:r>
              <a:rPr lang="en-IN"/>
              <a:t>#define LED_PIN 11</a:t>
            </a:r>
          </a:p>
          <a:p>
            <a:pPr marL="0" indent="0">
              <a:buNone/>
            </a:pPr>
            <a:r>
              <a:rPr lang="en-IN"/>
              <a:t>#define BUZZER_PIN 10</a:t>
            </a:r>
          </a:p>
          <a:p>
            <a:pPr marL="0" indent="0">
              <a:buNone/>
            </a:pPr>
            <a:r>
              <a:rPr lang="en-IN" err="1"/>
              <a:t>const int DOUT_PIN = 2;</a:t>
            </a:r>
          </a:p>
          <a:p>
            <a:pPr marL="0" indent="0">
              <a:buNone/>
            </a:pPr>
            <a:r>
              <a:rPr lang="en-IN" err="1"/>
              <a:t>const int SCK_PIN = 3;</a:t>
            </a:r>
          </a:p>
          <a:p>
            <a:pPr marL="0" indent="0">
              <a:buNone/>
            </a:pPr>
            <a:r>
              <a:rPr lang="en-IN" err="1"/>
              <a:t>const float LOAD_CELL_CALIBATION = 10009.0;</a:t>
            </a:r>
          </a:p>
          <a:p>
            <a:pPr marL="0" indent="0">
              <a:buNone/>
            </a:pPr>
            <a:r>
              <a:rPr lang="en-IN" err="1"/>
              <a:t>const float MAX_WEIGHT_THRESHOLD = 0.10; // Maximum acceptable weight</a:t>
            </a:r>
          </a:p>
          <a:p>
            <a:pPr marL="0" indent="0">
              <a:buNone/>
            </a:pPr>
            <a:r>
              <a:rPr lang="en-IN" err="1"/>
              <a:t>const int MAX_GAS_THRESHOLD = 110;      // Maximum acceptable gas value</a:t>
            </a:r>
          </a:p>
          <a:p>
            <a:pPr marL="0" indent="0">
              <a:buNone/>
            </a:pPr>
            <a:r>
              <a:rPr lang="en-IN"/>
              <a:t>LiquidCrystal_I2C lcd(0x27, 20, 4); // set the LCD address to 0x27 for a 16 chars and 2 line display</a:t>
            </a:r>
          </a:p>
          <a:p>
            <a:pPr marL="0" indent="0">
              <a:buNone/>
            </a:pPr>
            <a:endParaRPr lang="en-IN"/>
          </a:p>
        </p:txBody>
      </p:sp>
    </p:spTree>
    <p:extLst>
      <p:ext uri="{BB962C8B-B14F-4D97-AF65-F5344CB8AC3E}">
        <p14:creationId val="1394307686"/>
      </p:ext>
    </p:extLst>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smtClean="0"/>
              <a:t>SETUP FUNCTION</a:t>
            </a:r>
            <a:endParaRPr lang="en-IN"/>
          </a:p>
        </p:txBody>
      </p:sp>
      <p:sp>
        <p:nvSpPr>
          <p:cNvPr id="3" name="Content Placeholder 2"/>
          <p:cNvSpPr>
            <a:spLocks noGrp="1"/>
          </p:cNvSpPr>
          <p:nvPr>
            <p:ph idx="1"/>
          </p:nvPr>
        </p:nvSpPr>
        <p:spPr>
          <a:xfrm>
            <a:off x="457200" y="1124744"/>
            <a:ext cx="8229600" cy="5001419"/>
          </a:xfrm>
        </p:spPr>
        <p:txBody>
          <a:bodyPr>
            <a:normAutofit fontScale="62500" lnSpcReduction="20000"/>
          </a:bodyPr>
          <a:lstStyle/>
          <a:p>
            <a:pPr marL="0" indent="0">
              <a:buNone/>
            </a:pPr>
            <a:r>
              <a:rPr lang="en-IN"/>
              <a:t>void setup()</a:t>
            </a:r>
          </a:p>
          <a:p>
            <a:pPr marL="0" indent="0">
              <a:buNone/>
            </a:pPr>
            <a:r>
              <a:rPr lang="en-IN"/>
              <a:t>{</a:t>
            </a:r>
          </a:p>
          <a:p>
            <a:pPr marL="0" indent="0">
              <a:buNone/>
            </a:pPr>
            <a:r>
              <a:rPr lang="en-IN"/>
              <a:t>  Serial.begin(9600);</a:t>
            </a:r>
          </a:p>
          <a:p>
            <a:pPr marL="0" indent="0">
              <a:buNone/>
            </a:pPr>
            <a:r>
              <a:rPr lang="en-IN"/>
              <a:t>  lcd.init();</a:t>
            </a:r>
          </a:p>
          <a:p>
            <a:pPr marL="0" indent="0">
              <a:buNone/>
            </a:pPr>
            <a:r>
              <a:rPr lang="en-IN"/>
              <a:t>  lcd.backlight();</a:t>
            </a:r>
          </a:p>
          <a:p>
            <a:pPr marL="0" indent="0">
              <a:buNone/>
            </a:pPr>
            <a:r>
              <a:rPr lang="en-IN"/>
              <a:t>  lcd.setCursor(0, 0);</a:t>
            </a:r>
          </a:p>
          <a:p>
            <a:pPr marL="0" indent="0">
              <a:buNone/>
            </a:pPr>
            <a:r>
              <a:rPr lang="en-IN"/>
              <a:t>  lcd.print("Gas value: ");</a:t>
            </a:r>
          </a:p>
          <a:p>
            <a:pPr marL="0" indent="0">
              <a:buNone/>
            </a:pPr>
            <a:r>
              <a:rPr lang="en-IN"/>
              <a:t>  lcd.setCursor(0, 1);</a:t>
            </a:r>
          </a:p>
          <a:p>
            <a:pPr marL="0" indent="0">
              <a:buNone/>
            </a:pPr>
            <a:r>
              <a:rPr lang="en-IN"/>
              <a:t>  lcd.print("Weight: ");</a:t>
            </a:r>
          </a:p>
          <a:p>
            <a:pPr marL="0" indent="0">
              <a:buNone/>
            </a:pPr>
            <a:r>
              <a:rPr lang="en-IN"/>
              <a:t>  scale.begin(DOUT_PIN, SCK_PIN);</a:t>
            </a:r>
          </a:p>
          <a:p>
            <a:pPr marL="0" indent="0">
              <a:buNone/>
            </a:pPr>
            <a:r>
              <a:rPr lang="en-IN"/>
              <a:t>  scale.set_scale(LOAD_CELL_CALIBATION);</a:t>
            </a:r>
          </a:p>
          <a:p>
            <a:pPr marL="0" indent="0">
              <a:buNone/>
            </a:pPr>
            <a:r>
              <a:rPr lang="en-IN"/>
              <a:t>  pinMode(LED_PIN, OUTPUT);</a:t>
            </a:r>
          </a:p>
          <a:p>
            <a:pPr marL="0" indent="0">
              <a:buNone/>
            </a:pPr>
            <a:r>
              <a:rPr lang="en-IN"/>
              <a:t>  pinMode(BUZZER_PIN, OUTPUT);</a:t>
            </a:r>
          </a:p>
          <a:p>
            <a:pPr marL="0" indent="0">
              <a:buNone/>
            </a:pPr>
            <a:r>
              <a:rPr lang="en-IN"/>
              <a:t>  scale.tare();</a:t>
            </a:r>
          </a:p>
          <a:p>
            <a:pPr marL="0" indent="0">
              <a:buNone/>
            </a:pPr>
            <a:r>
              <a:rPr lang="en-IN"/>
              <a:t>}</a:t>
            </a:r>
          </a:p>
          <a:p>
            <a:pPr marL="0" indent="0">
              <a:buNone/>
            </a:pPr>
            <a:endParaRPr lang="en-IN"/>
          </a:p>
        </p:txBody>
      </p:sp>
    </p:spTree>
    <p:extLst>
      <p:ext uri="{BB962C8B-B14F-4D97-AF65-F5344CB8AC3E}">
        <p14:creationId val="1300720340"/>
      </p:ext>
    </p:extLst>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smtClean="0"/>
              <a:t>LOOP FUNCTION</a:t>
            </a:r>
            <a:endParaRPr lang="en-IN"/>
          </a:p>
        </p:txBody>
      </p:sp>
      <p:sp>
        <p:nvSpPr>
          <p:cNvPr id="3" name="Content Placeholder 2"/>
          <p:cNvSpPr>
            <a:spLocks noGrp="1"/>
          </p:cNvSpPr>
          <p:nvPr>
            <p:ph idx="1"/>
          </p:nvPr>
        </p:nvSpPr>
        <p:spPr>
          <a:xfrm>
            <a:off x="457200" y="1196752"/>
            <a:ext cx="8229600" cy="4929411"/>
          </a:xfrm>
        </p:spPr>
        <p:txBody>
          <a:bodyPr>
            <a:noAutofit/>
          </a:bodyPr>
          <a:lstStyle/>
          <a:p>
            <a:pPr marL="0" indent="0">
              <a:buNone/>
            </a:pPr>
            <a:r>
              <a:rPr lang="en-IN" sz="1100"/>
              <a:t>void loop</a:t>
            </a:r>
            <a:r>
              <a:rPr lang="en-IN" sz="1100" smtClean="0"/>
              <a:t>(){</a:t>
            </a:r>
            <a:endParaRPr lang="en-IN" sz="1100"/>
          </a:p>
          <a:p>
            <a:pPr marL="0" indent="0">
              <a:buNone/>
            </a:pPr>
            <a:r>
              <a:rPr lang="en-IN" sz="1100"/>
              <a:t>  float currWeight = scale.get_units();</a:t>
            </a:r>
          </a:p>
          <a:p>
            <a:pPr marL="0" indent="0">
              <a:buNone/>
            </a:pPr>
            <a:r>
              <a:rPr lang="en-IN" sz="1100"/>
              <a:t>  int gasValue = analogRead(MQ_PIN);</a:t>
            </a:r>
          </a:p>
          <a:p>
            <a:pPr marL="0" indent="0">
              <a:buNone/>
            </a:pPr>
            <a:r>
              <a:rPr lang="en-IN" sz="1100"/>
              <a:t>  lcd.setCursor(10, 0);</a:t>
            </a:r>
          </a:p>
          <a:p>
            <a:pPr marL="0" indent="0">
              <a:buNone/>
            </a:pPr>
            <a:r>
              <a:rPr lang="en-IN" sz="1100"/>
              <a:t>  lcd.print(gasValue);</a:t>
            </a:r>
          </a:p>
          <a:p>
            <a:pPr marL="0" indent="0">
              <a:buNone/>
            </a:pPr>
            <a:r>
              <a:rPr lang="en-IN" sz="1100"/>
              <a:t>  lcd.print("    ");</a:t>
            </a:r>
          </a:p>
          <a:p>
            <a:pPr marL="0" indent="0">
              <a:buNone/>
            </a:pPr>
            <a:r>
              <a:rPr lang="en-IN" sz="1100"/>
              <a:t>  lcd.setCursor(8, 1);</a:t>
            </a:r>
          </a:p>
          <a:p>
            <a:pPr marL="0" indent="0">
              <a:buNone/>
            </a:pPr>
            <a:r>
              <a:rPr lang="en-IN" sz="1100"/>
              <a:t>  lcd.print(currWeight, 2); // Display weight with 2 decimal </a:t>
            </a:r>
            <a:r>
              <a:rPr lang="en-IN" sz="1100" smtClean="0"/>
              <a:t>places</a:t>
            </a:r>
            <a:endParaRPr lang="en-IN" sz="1100"/>
          </a:p>
          <a:p>
            <a:pPr marL="0" indent="0">
              <a:buNone/>
            </a:pPr>
            <a:r>
              <a:rPr lang="en-IN" sz="1100" err="1"/>
              <a:t>lcd.print(" g    ");</a:t>
            </a:r>
          </a:p>
          <a:p>
            <a:pPr marL="0" indent="0">
              <a:buNone/>
            </a:pPr>
            <a:r>
              <a:rPr lang="en-IN" sz="1100"/>
              <a:t>  if(currWeight &lt;= MAX_WEIGHT_THRESHOLD &amp;&amp; gasValue &lt;= MAX_GAS_THRESHOLD)</a:t>
            </a:r>
          </a:p>
          <a:p>
            <a:pPr marL="0" indent="0">
              <a:buNone/>
            </a:pPr>
            <a:r>
              <a:rPr lang="en-IN" sz="1100"/>
              <a:t>  {</a:t>
            </a:r>
          </a:p>
          <a:p>
            <a:pPr marL="0" indent="0">
              <a:buNone/>
            </a:pPr>
            <a:r>
              <a:rPr lang="en-IN" sz="1100"/>
              <a:t>    digitalWrite(LED_PIN, LOW); // Turn off LED</a:t>
            </a:r>
          </a:p>
          <a:p>
            <a:pPr marL="0" indent="0">
              <a:buNone/>
            </a:pPr>
            <a:r>
              <a:rPr lang="en-IN" sz="1100"/>
              <a:t>    noTone(BUZZER_PIN);         // Turn off buzzer</a:t>
            </a:r>
          </a:p>
          <a:p>
            <a:pPr marL="0" indent="0">
              <a:buNone/>
            </a:pPr>
            <a:r>
              <a:rPr lang="en-IN" sz="1100"/>
              <a:t>    lcd.setCursor(0, 3);</a:t>
            </a:r>
          </a:p>
          <a:p>
            <a:pPr marL="0" indent="0">
              <a:buNone/>
            </a:pPr>
            <a:r>
              <a:rPr lang="en-IN" sz="1100"/>
              <a:t>    lcd.print("Good: ");</a:t>
            </a:r>
          </a:p>
          <a:p>
            <a:pPr marL="0" indent="0">
              <a:buNone/>
            </a:pPr>
            <a:r>
              <a:rPr lang="en-IN" sz="1100"/>
              <a:t>  }</a:t>
            </a:r>
          </a:p>
          <a:p>
            <a:pPr marL="0" indent="0">
              <a:buNone/>
            </a:pPr>
            <a:r>
              <a:rPr lang="en-IN" sz="1100"/>
              <a:t>  </a:t>
            </a:r>
            <a:r>
              <a:rPr lang="en-IN" sz="1100" smtClean="0"/>
              <a:t>else{</a:t>
            </a:r>
            <a:endParaRPr lang="en-IN" sz="1100"/>
          </a:p>
          <a:p>
            <a:pPr marL="0" indent="0">
              <a:buNone/>
            </a:pPr>
            <a:r>
              <a:rPr lang="en-IN" sz="1100"/>
              <a:t>    digitalWrite(LED_PIN, HIGH); // Turn on LED</a:t>
            </a:r>
          </a:p>
          <a:p>
            <a:pPr marL="0" indent="0">
              <a:buNone/>
            </a:pPr>
            <a:r>
              <a:rPr lang="en-IN" sz="1100"/>
              <a:t>    tone(BUZZER_PIN, 1000);      // Sound buzzer</a:t>
            </a:r>
          </a:p>
          <a:p>
            <a:pPr marL="0" indent="0">
              <a:buNone/>
            </a:pPr>
            <a:r>
              <a:rPr lang="en-IN" sz="1100"/>
              <a:t>    lcd.setCursor(0, 3);</a:t>
            </a:r>
          </a:p>
          <a:p>
            <a:pPr marL="0" indent="0">
              <a:buNone/>
            </a:pPr>
            <a:r>
              <a:rPr lang="en-IN" sz="1100"/>
              <a:t>    lcd.print("Spoiled: </a:t>
            </a:r>
            <a:r>
              <a:rPr lang="en-IN" sz="1100" smtClean="0"/>
              <a:t>");</a:t>
            </a:r>
            <a:endParaRPr lang="en-IN" sz="1100"/>
          </a:p>
          <a:p>
            <a:pPr marL="0" indent="0">
              <a:buNone/>
            </a:pPr>
            <a:r>
              <a:rPr lang="en-IN" sz="1100"/>
              <a:t>  }</a:t>
            </a:r>
          </a:p>
          <a:p>
            <a:pPr marL="0" indent="0">
              <a:buNone/>
            </a:pPr>
            <a:r>
              <a:rPr lang="en-IN" sz="1100"/>
              <a:t>  delay(5000</a:t>
            </a:r>
            <a:r>
              <a:rPr lang="en-IN" sz="1100" smtClean="0"/>
              <a:t>);</a:t>
            </a:r>
            <a:endParaRPr lang="en-IN" sz="1100"/>
          </a:p>
          <a:p>
            <a:pPr marL="0" indent="0">
              <a:buNone/>
            </a:pPr>
            <a:r>
              <a:rPr lang="en-IN" sz="1100"/>
              <a:t>}</a:t>
            </a:r>
          </a:p>
          <a:p>
            <a:pPr marL="0" indent="0">
              <a:buNone/>
            </a:pPr>
            <a:endParaRPr lang="en-IN" sz="1100"/>
          </a:p>
        </p:txBody>
      </p:sp>
    </p:spTree>
    <p:extLst>
      <p:ext uri="{BB962C8B-B14F-4D97-AF65-F5344CB8AC3E}">
        <p14:creationId val="2356084844"/>
      </p:ext>
    </p:extLst>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normAutofit fontScale="90000"/>
          </a:bodyPr>
          <a:lstStyle/>
          <a:p>
            <a:r>
              <a:rPr lang="en-IN" b="1"/>
              <a:t>PROBLEM ARISES DURING DEPLOYMENT</a:t>
            </a:r>
            <a:endParaRPr lang="en-IN"/>
          </a:p>
        </p:txBody>
      </p:sp>
      <p:sp>
        <p:nvSpPr>
          <p:cNvPr id="3" name="Content Placeholder 2"/>
          <p:cNvSpPr>
            <a:spLocks noGrp="1"/>
          </p:cNvSpPr>
          <p:nvPr>
            <p:ph idx="1"/>
          </p:nvPr>
        </p:nvSpPr>
        <p:spPr/>
        <p:txBody>
          <a:bodyPr>
            <a:normAutofit fontScale="77500" lnSpcReduction="20000"/>
          </a:bodyPr>
          <a:lstStyle/>
          <a:p>
            <a:pPr marL="0" indent="0">
              <a:buNone/>
            </a:pPr>
            <a:r>
              <a:rPr lang="en-IN" b="1"/>
              <a:t>Sensor Calibration Issues:</a:t>
            </a:r>
            <a:endParaRPr lang="en-IN"/>
          </a:p>
          <a:p>
            <a:r>
              <a:rPr lang="en-IN"/>
              <a:t>Problem: Improper calibration of sensors, such as </a:t>
            </a:r>
            <a:r>
              <a:rPr lang="en-IN" smtClean="0"/>
              <a:t>the load </a:t>
            </a:r>
            <a:r>
              <a:rPr lang="en-IN"/>
              <a:t>cell, may lead to inaccurate readings and unreliable detection of spoilage.</a:t>
            </a:r>
          </a:p>
          <a:p>
            <a:pPr marL="0" indent="0">
              <a:buNone/>
            </a:pPr>
            <a:r>
              <a:rPr lang="en-IN" b="1"/>
              <a:t>Solution:</a:t>
            </a:r>
          </a:p>
          <a:p>
            <a:pPr lvl="0"/>
            <a:r>
              <a:rPr lang="en-IN"/>
              <a:t>Ensure thorough calibration of sensors before deployment, following manufacturer guidelines and best practices.</a:t>
            </a:r>
          </a:p>
          <a:p>
            <a:pPr lvl="0"/>
            <a:r>
              <a:rPr lang="en-IN"/>
              <a:t>Implement periodic calibration checks to verify sensor accuracy and recalibrate if necessary.</a:t>
            </a:r>
          </a:p>
          <a:p>
            <a:r>
              <a:rPr lang="en-IN"/>
              <a:t>Implement continuous calibration mechanisms to monitor and adjust the load cell's readings over time, compensating for any drift or changes in its performance</a:t>
            </a:r>
          </a:p>
        </p:txBody>
      </p:sp>
    </p:spTree>
    <p:extLst>
      <p:ext uri="{BB962C8B-B14F-4D97-AF65-F5344CB8AC3E}">
        <p14:creationId val="1178342879"/>
      </p:ext>
    </p:extLst>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INITIAL STATE SENSITIVITY</a:t>
            </a:r>
            <a:endParaRPr lang="en-IN"/>
          </a:p>
        </p:txBody>
      </p:sp>
      <p:sp>
        <p:nvSpPr>
          <p:cNvPr id="3" name="Content Placeholder 2"/>
          <p:cNvSpPr>
            <a:spLocks noGrp="1"/>
          </p:cNvSpPr>
          <p:nvPr>
            <p:ph idx="1"/>
          </p:nvPr>
        </p:nvSpPr>
        <p:spPr>
          <a:xfrm>
            <a:off x="457200" y="1268760"/>
            <a:ext cx="8229600" cy="4857403"/>
          </a:xfrm>
        </p:spPr>
        <p:txBody>
          <a:bodyPr>
            <a:normAutofit fontScale="92500" lnSpcReduction="10000"/>
          </a:bodyPr>
          <a:lstStyle/>
          <a:p>
            <a:pPr marL="0" indent="0">
              <a:buNone/>
            </a:pPr>
            <a:r>
              <a:rPr lang="en-IN" b="1"/>
              <a:t>Problem: </a:t>
            </a:r>
            <a:r>
              <a:rPr lang="en-IN"/>
              <a:t>Before placing any weight on the load cell, its initial state (zero weight) should be calibrated accurately. Any deviation from this initial state could lead to incorrect weight measurements and affect the system's ability to detect spoilage accurately.</a:t>
            </a:r>
          </a:p>
          <a:p>
            <a:pPr marL="0" indent="0">
              <a:buNone/>
            </a:pPr>
            <a:r>
              <a:rPr lang="en-IN" b="1"/>
              <a:t>Solution:</a:t>
            </a:r>
          </a:p>
          <a:p>
            <a:pPr lvl="0"/>
            <a:r>
              <a:rPr lang="en-IN"/>
              <a:t>Before uploading the program to the Arduino Uno check any weight place on the Load cell if weight is placed it will take and upload the program.</a:t>
            </a:r>
          </a:p>
          <a:p>
            <a:endParaRPr lang="en-IN"/>
          </a:p>
        </p:txBody>
      </p:sp>
    </p:spTree>
    <p:extLst>
      <p:ext uri="{BB962C8B-B14F-4D97-AF65-F5344CB8AC3E}">
        <p14:creationId val="454278531"/>
      </p:ext>
    </p:extLst>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a:t>ADVANTAGES</a:t>
            </a:r>
            <a:endParaRPr lang="en-IN"/>
          </a:p>
        </p:txBody>
      </p:sp>
      <p:sp>
        <p:nvSpPr>
          <p:cNvPr id="3" name="Content Placeholder 2"/>
          <p:cNvSpPr>
            <a:spLocks noGrp="1"/>
          </p:cNvSpPr>
          <p:nvPr>
            <p:ph idx="1"/>
          </p:nvPr>
        </p:nvSpPr>
        <p:spPr/>
        <p:txBody>
          <a:bodyPr>
            <a:normAutofit/>
          </a:bodyPr>
          <a:lstStyle/>
          <a:p>
            <a:r>
              <a:rPr lang="en-IN" sz="4400"/>
              <a:t>Early Spoilage </a:t>
            </a:r>
            <a:r>
              <a:rPr lang="en-IN" sz="4400" smtClean="0"/>
              <a:t>Detection</a:t>
            </a:r>
          </a:p>
          <a:p>
            <a:r>
              <a:rPr lang="en-IN" sz="4400"/>
              <a:t>Improved Food </a:t>
            </a:r>
            <a:r>
              <a:rPr lang="en-IN" sz="4400" smtClean="0"/>
              <a:t>Safety</a:t>
            </a:r>
          </a:p>
          <a:p>
            <a:r>
              <a:rPr lang="en-IN" sz="4400"/>
              <a:t>Reduced Food </a:t>
            </a:r>
            <a:r>
              <a:rPr lang="en-IN" sz="4400" smtClean="0"/>
              <a:t>Waste</a:t>
            </a:r>
          </a:p>
          <a:p>
            <a:r>
              <a:rPr lang="en-IN" sz="4400"/>
              <a:t>User-Friendly Interface</a:t>
            </a:r>
          </a:p>
        </p:txBody>
      </p:sp>
    </p:spTree>
    <p:extLst>
      <p:ext uri="{BB962C8B-B14F-4D97-AF65-F5344CB8AC3E}">
        <p14:creationId val="2996275229"/>
      </p:ext>
    </p:extLst>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DISADVANTAGES</a:t>
            </a:r>
            <a:endParaRPr lang="en-IN" b="1"/>
          </a:p>
        </p:txBody>
      </p:sp>
      <p:sp>
        <p:nvSpPr>
          <p:cNvPr id="3" name="Content Placeholder 2"/>
          <p:cNvSpPr>
            <a:spLocks noGrp="1"/>
          </p:cNvSpPr>
          <p:nvPr>
            <p:ph idx="1"/>
          </p:nvPr>
        </p:nvSpPr>
        <p:spPr/>
        <p:txBody>
          <a:bodyPr>
            <a:normAutofit/>
          </a:bodyPr>
          <a:lstStyle/>
          <a:p>
            <a:r>
              <a:rPr lang="en-IN" sz="4400"/>
              <a:t>Limited Detection </a:t>
            </a:r>
            <a:r>
              <a:rPr lang="en-IN" sz="4400" smtClean="0"/>
              <a:t>Scope</a:t>
            </a:r>
          </a:p>
          <a:p>
            <a:r>
              <a:rPr lang="en-IN" sz="4400"/>
              <a:t>Sensor Calibration </a:t>
            </a:r>
            <a:r>
              <a:rPr lang="en-IN" sz="4400" smtClean="0"/>
              <a:t>Challenges</a:t>
            </a:r>
          </a:p>
          <a:p>
            <a:r>
              <a:rPr lang="en-IN" sz="4400"/>
              <a:t>Dependency on Power </a:t>
            </a:r>
            <a:r>
              <a:rPr lang="en-IN" sz="4400" smtClean="0"/>
              <a:t>Supply</a:t>
            </a:r>
          </a:p>
          <a:p>
            <a:r>
              <a:rPr lang="en-IN" sz="4400"/>
              <a:t>Initial Setup Complexity</a:t>
            </a:r>
          </a:p>
        </p:txBody>
      </p:sp>
    </p:spTree>
    <p:extLst>
      <p:ext uri="{BB962C8B-B14F-4D97-AF65-F5344CB8AC3E}">
        <p14:creationId val="3383892645"/>
      </p:ext>
    </p:extLst>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FUTURE ENHANCEMENTS</a:t>
            </a:r>
            <a:endParaRPr lang="en-IN" b="1"/>
          </a:p>
        </p:txBody>
      </p:sp>
      <p:sp>
        <p:nvSpPr>
          <p:cNvPr id="3" name="Content Placeholder 2"/>
          <p:cNvSpPr>
            <a:spLocks noGrp="1"/>
          </p:cNvSpPr>
          <p:nvPr>
            <p:ph idx="1"/>
          </p:nvPr>
        </p:nvSpPr>
        <p:spPr/>
        <p:txBody>
          <a:bodyPr/>
          <a:lstStyle/>
          <a:p>
            <a:r>
              <a:rPr lang="en-IN"/>
              <a:t>Integration of Multi-Sensor Fusion</a:t>
            </a:r>
          </a:p>
          <a:p>
            <a:r>
              <a:rPr lang="en-US"/>
              <a:t>Adoption of Advanced Machine Learning Techniques</a:t>
            </a:r>
          </a:p>
          <a:p>
            <a:r>
              <a:rPr lang="en-US"/>
              <a:t>Enhancement of User Interface and Interaction</a:t>
            </a:r>
          </a:p>
          <a:p>
            <a:r>
              <a:rPr lang="en-IN"/>
              <a:t>Differentiating Egg Sizes</a:t>
            </a:r>
          </a:p>
          <a:p>
            <a:r>
              <a:rPr lang="en-IN"/>
              <a:t>Auto-Threshold Setting</a:t>
            </a:r>
          </a:p>
          <a:p>
            <a:endParaRPr lang="en-IN"/>
          </a:p>
        </p:txBody>
      </p:sp>
    </p:spTree>
    <p:extLst>
      <p:ext uri="{BB962C8B-B14F-4D97-AF65-F5344CB8AC3E}">
        <p14:creationId val="1919825334"/>
      </p:ext>
    </p:extLst>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r>
              <a:rPr lang="en-IN" b="1" smtClean="0"/>
              <a:t>COST OF PROJECT</a:t>
            </a:r>
            <a:endParaRPr lang="en-IN" b="1"/>
          </a:p>
        </p:txBody>
      </p:sp>
      <p:sp>
        <p:nvSpPr>
          <p:cNvPr id="3" name="Content Placeholder 2"/>
          <p:cNvSpPr>
            <a:spLocks noGrp="1"/>
          </p:cNvSpPr>
          <p:nvPr>
            <p:ph idx="1"/>
          </p:nvPr>
        </p:nvSpPr>
        <p:spPr>
          <a:xfrm>
            <a:off x="467544" y="1268760"/>
            <a:ext cx="8229600" cy="5141168"/>
          </a:xfrm>
        </p:spPr>
        <p:txBody>
          <a:bodyPr>
            <a:normAutofit/>
          </a:bodyPr>
          <a:lstStyle/>
          <a:p>
            <a:pPr marL="0" indent="0">
              <a:buNone/>
            </a:pPr>
            <a:r>
              <a:rPr lang="en-IN"/>
              <a:t>	</a:t>
            </a:r>
          </a:p>
        </p:txBody>
      </p:sp>
      <p:graphicFrame>
        <p:nvGraphicFramePr>
          <p:cNvPr id="4" name="Table 3"/>
          <p:cNvGraphicFramePr>
            <a:graphicFrameLocks noGrp="1"/>
          </p:cNvGraphicFramePr>
          <p:nvPr>
            <p:extLst>
              <p:ext uri="{D42A27DB-BD31-4B8C-83A1-F6EECF244321}">
                <p14:modId val="919466771"/>
              </p:ext>
            </p:extLst>
          </p:nvPr>
        </p:nvGraphicFramePr>
        <p:xfrm>
          <a:off x="1524000" y="1397000"/>
          <a:ext cx="6096000" cy="4820534"/>
        </p:xfrm>
        <a:graphic>
          <a:graphicData uri="http://schemas.openxmlformats.org/drawingml/2006/table">
            <a:tbl>
              <a:tblPr firstRow="1" bandRow="1">
                <a:tableStyleId>{5C22544A-7EE6-4342-B048-85BDC9FD1C3A}</a:tableStyleId>
              </a:tblPr>
              <a:tblGrid>
                <a:gridCol w="3048000"/>
                <a:gridCol w="3048000"/>
              </a:tblGrid>
              <a:tr h="0">
                <a:tc>
                  <a:txBody>
                    <a:bodyPr vert="horz" wrap="square"/>
                    <a:lstStyle/>
                    <a:p>
                      <a:endParaRPr lang="en-IN"/>
                    </a:p>
                  </a:txBody>
                  <a:tcPr/>
                </a:tc>
                <a:tc>
                  <a:txBody>
                    <a:bodyPr vert="horz" wrap="square"/>
                    <a:lstStyle/>
                    <a:p>
                      <a:endParaRPr lang="en-IN"/>
                    </a:p>
                  </a:txBody>
                  <a:tcPr/>
                </a:tc>
              </a:tr>
              <a:tr h="533031">
                <a:tc>
                  <a:txBody>
                    <a:bodyPr vert="horz" wrap="square"/>
                    <a:lstStyle/>
                    <a:p>
                      <a:r>
                        <a:rPr lang="en-IN" smtClean="0"/>
                        <a:t>ARDUINO UNO</a:t>
                      </a:r>
                      <a:endParaRPr lang="en-IN"/>
                    </a:p>
                  </a:txBody>
                  <a:tcPr/>
                </a:tc>
                <a:tc>
                  <a:txBody>
                    <a:bodyPr vert="horz" wrap="square"/>
                    <a:lstStyle/>
                    <a:p>
                      <a:r>
                        <a:rPr lang="en-IN" smtClean="0"/>
                        <a:t> 472</a:t>
                      </a:r>
                      <a:endParaRPr lang="en-IN"/>
                    </a:p>
                  </a:txBody>
                  <a:tcPr/>
                </a:tc>
              </a:tr>
              <a:tr h="533031">
                <a:tc>
                  <a:txBody>
                    <a:bodyPr vert="horz" wrap="square"/>
                    <a:lstStyle/>
                    <a:p>
                      <a:r>
                        <a:rPr lang="en-IN" smtClean="0"/>
                        <a:t>GAS SENSOR</a:t>
                      </a:r>
                      <a:endParaRPr lang="en-IN"/>
                    </a:p>
                  </a:txBody>
                  <a:tcPr/>
                </a:tc>
                <a:tc>
                  <a:txBody>
                    <a:bodyPr vert="horz" wrap="square"/>
                    <a:lstStyle/>
                    <a:p>
                      <a:r>
                        <a:rPr lang="en-IN" smtClean="0"/>
                        <a:t> 157</a:t>
                      </a:r>
                      <a:endParaRPr lang="en-IN"/>
                    </a:p>
                  </a:txBody>
                  <a:tcPr/>
                </a:tc>
              </a:tr>
              <a:tr h="533031">
                <a:tc>
                  <a:txBody>
                    <a:bodyPr vert="horz" wrap="square"/>
                    <a:lstStyle/>
                    <a:p>
                      <a:r>
                        <a:rPr lang="en-IN" smtClean="0"/>
                        <a:t>LOAD CELL</a:t>
                      </a:r>
                      <a:endParaRPr lang="en-IN"/>
                    </a:p>
                  </a:txBody>
                  <a:tcPr/>
                </a:tc>
                <a:tc>
                  <a:txBody>
                    <a:bodyPr vert="horz" wrap="square"/>
                    <a:lstStyle/>
                    <a:p>
                      <a:r>
                        <a:rPr lang="en-IN" smtClean="0"/>
                        <a:t> 350</a:t>
                      </a:r>
                      <a:endParaRPr lang="en-IN"/>
                    </a:p>
                  </a:txBody>
                  <a:tcPr/>
                </a:tc>
              </a:tr>
              <a:tr h="533031">
                <a:tc>
                  <a:txBody>
                    <a:bodyPr vert="horz" wrap="square"/>
                    <a:lstStyle/>
                    <a:p>
                      <a:r>
                        <a:rPr lang="en-IN" smtClean="0"/>
                        <a:t>RX711</a:t>
                      </a:r>
                      <a:endParaRPr lang="en-IN"/>
                    </a:p>
                  </a:txBody>
                  <a:tcPr/>
                </a:tc>
                <a:tc>
                  <a:txBody>
                    <a:bodyPr vert="horz" wrap="square"/>
                    <a:lstStyle/>
                    <a:p>
                      <a:r>
                        <a:rPr lang="en-IN" baseline="0" smtClean="0"/>
                        <a:t> 120</a:t>
                      </a:r>
                      <a:endParaRPr lang="en-IN"/>
                    </a:p>
                  </a:txBody>
                  <a:tcPr/>
                </a:tc>
              </a:tr>
              <a:tr h="533031">
                <a:tc>
                  <a:txBody>
                    <a:bodyPr vert="horz" wrap="square"/>
                    <a:lstStyle/>
                    <a:p>
                      <a:r>
                        <a:rPr lang="en-IN" smtClean="0"/>
                        <a:t>BUZZER</a:t>
                      </a:r>
                      <a:endParaRPr lang="en-IN"/>
                    </a:p>
                  </a:txBody>
                  <a:tcPr/>
                </a:tc>
                <a:tc>
                  <a:txBody>
                    <a:bodyPr vert="horz" wrap="square"/>
                    <a:lstStyle/>
                    <a:p>
                      <a:r>
                        <a:rPr lang="en-IN" smtClean="0"/>
                        <a:t> 87</a:t>
                      </a:r>
                      <a:endParaRPr lang="en-IN"/>
                    </a:p>
                  </a:txBody>
                  <a:tcPr/>
                </a:tc>
              </a:tr>
              <a:tr h="533031">
                <a:tc>
                  <a:txBody>
                    <a:bodyPr vert="horz" wrap="square"/>
                    <a:lstStyle/>
                    <a:p>
                      <a:r>
                        <a:rPr lang="en-IN" smtClean="0"/>
                        <a:t>LED</a:t>
                      </a:r>
                      <a:endParaRPr lang="en-IN"/>
                    </a:p>
                  </a:txBody>
                  <a:tcPr/>
                </a:tc>
                <a:tc>
                  <a:txBody>
                    <a:bodyPr vert="horz" wrap="square"/>
                    <a:lstStyle/>
                    <a:p>
                      <a:r>
                        <a:rPr lang="en-IN" smtClean="0"/>
                        <a:t> 2</a:t>
                      </a:r>
                      <a:endParaRPr lang="en-IN"/>
                    </a:p>
                  </a:txBody>
                  <a:tcPr/>
                </a:tc>
              </a:tr>
              <a:tr h="628294">
                <a:tc>
                  <a:txBody>
                    <a:bodyPr vert="horz" wrap="square"/>
                    <a:lstStyle/>
                    <a:p>
                      <a:r>
                        <a:rPr lang="en-IN" smtClean="0"/>
                        <a:t>BREADBOARD</a:t>
                      </a:r>
                      <a:endParaRPr lang="en-IN"/>
                    </a:p>
                  </a:txBody>
                  <a:tcPr/>
                </a:tc>
                <a:tc>
                  <a:txBody>
                    <a:bodyPr vert="horz" wrap="square"/>
                    <a:lstStyle/>
                    <a:p>
                      <a:r>
                        <a:rPr lang="en-IN" smtClean="0"/>
                        <a:t> 120</a:t>
                      </a:r>
                      <a:endParaRPr lang="en-IN"/>
                    </a:p>
                  </a:txBody>
                  <a:tcPr/>
                </a:tc>
              </a:tr>
              <a:tr h="628294">
                <a:tc>
                  <a:txBody>
                    <a:bodyPr vert="horz" wrap="square"/>
                    <a:lstStyle/>
                    <a:p>
                      <a:r>
                        <a:rPr lang="en-IN" smtClean="0"/>
                        <a:t>TOTAL</a:t>
                      </a:r>
                      <a:endParaRPr lang="en-IN"/>
                    </a:p>
                  </a:txBody>
                  <a:tcPr/>
                </a:tc>
                <a:tc>
                  <a:txBody>
                    <a:bodyPr vert="horz" wrap="square"/>
                    <a:lstStyle/>
                    <a:p>
                      <a:r>
                        <a:rPr lang="en-IN" smtClean="0"/>
                        <a:t>1310</a:t>
                      </a:r>
                      <a:endParaRPr lang="en-IN"/>
                    </a:p>
                  </a:txBody>
                  <a:tcPr/>
                </a:tc>
              </a:tr>
            </a:tbl>
          </a:graphicData>
        </a:graphic>
      </p:graphicFrame>
    </p:spTree>
    <p:extLst>
      <p:ext uri="{BB962C8B-B14F-4D97-AF65-F5344CB8AC3E}">
        <p14:creationId val="500987953"/>
      </p:ext>
    </p:extLst>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331640" y="1628800"/>
            <a:ext cx="6192688"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val="2852103970"/>
      </p:ext>
    </p:extLst>
  </p:cSld>
  <p:clrMapOvr>
    <a:masterClrMapping/>
  </p:clrMapOvr>
  <p:transition/>
  <p:timing/>
</p:sld>
</file>

<file path=ppt/tags/tag1.xml><?xml version="1.0" encoding="utf-8"?>
<p:tagLst xmlns:p="http://schemas.openxmlformats.org/presentationml/2006/main">
  <p:tag name="AS_NET" val="7.0.19"/>
  <p:tag name="AS_OS" val="Unix 5.15.0.131"/>
  <p:tag name="AS_RELEASE_DATE" val="2025.10.14"/>
  <p:tag name="AS_TITLE" val="Aspose.Slides for .NET6"/>
  <p:tag name="AS_VERSION" val="25.10"/>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118</Paragraphs>
  <Slides>18</Slides>
  <Notes>0</Notes>
  <TotalTime>205</TotalTime>
  <HiddenSlides>0</HiddenSlides>
  <MMClips>0</MMClips>
  <ScaleCrop>0</ScaleCrop>
  <HeadingPairs>
    <vt:vector baseType="variant" size="6">
      <vt:variant>
        <vt:lpstr>Fonts Used</vt:lpstr>
      </vt:variant>
      <vt:variant>
        <vt:i4>2</vt:i4>
      </vt:variant>
      <vt:variant>
        <vt:lpstr>Theme</vt:lpstr>
      </vt:variant>
      <vt:variant>
        <vt:i4>1</vt:i4>
      </vt:variant>
      <vt:variant>
        <vt:lpstr>Slide Titles</vt:lpstr>
      </vt:variant>
      <vt:variant>
        <vt:i4>18</vt:i4>
      </vt:variant>
    </vt:vector>
  </HeadingPairs>
  <TitlesOfParts>
    <vt:vector baseType="lpstr" size="21">
      <vt:lpstr>Arial</vt:lpstr>
      <vt:lpstr>Calibri</vt:lpstr>
      <vt:lpstr>Office Theme</vt:lpstr>
      <vt:lpstr>FOOD AND EGGS SPOILING DETECTION
</vt:lpstr>
      <vt:lpstr>AGENDA</vt:lpstr>
      <vt:lpstr>INTRODUCTION</vt:lpstr>
      <vt:lpstr>COMPONENTS</vt:lpstr>
      <vt:lpstr>CIRCUIT DIAGRAM</vt:lpstr>
      <vt:lpstr>SYSTEM WORKFLOW</vt:lpstr>
      <vt:lpstr>PowerPoint Presentation</vt:lpstr>
      <vt:lpstr>PROJECT IMAGE</vt:lpstr>
      <vt:lpstr>PROGRAM</vt:lpstr>
      <vt:lpstr>SETUP FUNCTION</vt:lpstr>
      <vt:lpstr>LOOP FUNCTION</vt:lpstr>
      <vt:lpstr>PROBLEM ARISES DURING DEPLOYMENT</vt:lpstr>
      <vt:lpstr>INITIAL STATE SENSITIVITY</vt:lpstr>
      <vt:lpstr>ADVANTAGES</vt:lpstr>
      <vt:lpstr>DISADVANTAGES</vt:lpstr>
      <vt:lpstr>FUTURE ENHANCEMENTS</vt:lpstr>
      <vt:lpstr>COST OF PROJECT</vt:lpstr>
      <vt:lpstr>PowerPoint Presentation</vt:lpstr>
    </vt:vector>
  </TitlesOfParts>
  <LinksUpToDate>0</LinksUpToDate>
  <SharedDoc>0</SharedDoc>
  <HyperlinksChanged>0</HyperlinksChanged>
  <Application>Aspose.Slides for .NET</Application>
  <AppVersion>25.1000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FOOD AND EGGS SPOLING DETECTION</dc:title>
  <dc:creator>SUBASUNDAR</dc:creator>
  <cp:lastModifiedBy>SUBASUNDAR</cp:lastModifiedBy>
  <cp:revision>16</cp:revision>
  <dcterms:created xsi:type="dcterms:W3CDTF">2024-02-19T16:40:00Z</dcterms:created>
  <dcterms:modified xsi:type="dcterms:W3CDTF">2026-01-06T15:07:29Z</dcterms:modified>
</cp:coreProperties>
</file>